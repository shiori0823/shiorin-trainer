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</p:sldIdLst>
  <p:notesMasterIdLst>
    <p:notesMasterId r:id="rId6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notesMaster" Target="notesMasters/notesMaster1.xml"/><Relationship Id="rId66" Type="http://schemas.openxmlformats.org/officeDocument/2006/relationships/presProps" Target="presProps.xml"/><Relationship Id="rId67" Type="http://schemas.openxmlformats.org/officeDocument/2006/relationships/viewProps" Target="viewProps.xml"/><Relationship Id="rId68" Type="http://schemas.openxmlformats.org/officeDocument/2006/relationships/theme" Target="theme/theme1.xml"/><Relationship Id="rId6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77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「私、ちゃんと進んでた」に気づく90分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</a:t>
            </a:r>
            <a:endParaRPr lang="en-US" sz="4600" dirty="0"/>
          </a:p>
          <a:p>
            <a:pPr algn="l" indent="0" marL="0">
              <a:lnSpc>
                <a:spcPts val="6670"/>
              </a:lnSpc>
              <a:buNone/>
            </a:pPr>
            <a:r>
              <a:rPr lang="en-US" sz="46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ワークショップ</a:t>
            </a:r>
            <a:endParaRPr lang="en-US" sz="4600" dirty="0"/>
          </a:p>
        </p:txBody>
      </p:sp>
      <p:sp>
        <p:nvSpPr>
          <p:cNvPr id="5" name="Shape 3"/>
          <p:cNvSpPr/>
          <p:nvPr/>
        </p:nvSpPr>
        <p:spPr>
          <a:xfrm>
            <a:off x="640080" y="3246120"/>
            <a:ext cx="1188720" cy="36576"/>
          </a:xfrm>
          <a:prstGeom prst="rect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5204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絶対に取りたい記録、勝ちたい試合があるパワーリフターへ。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0233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今日は、「メンタルを強くする方法」ではなく、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「自分のメンタルをどう扱うか」を一緒に考えていきます。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こんな経験、ありませんか？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642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6642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練習では挙がったのに、試合では取れない</a:t>
            </a:r>
            <a:endParaRPr lang="en-US" sz="17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09397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09397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大事な一本ほど「失敗したらどうしよう」と思う</a:t>
            </a:r>
            <a:endParaRPr lang="en-US" sz="17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5237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一本落とすと、その後まで引きずる</a:t>
            </a:r>
            <a:endParaRPr lang="en-US" sz="175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29535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9535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ライバルや順位を見ると焦る</a:t>
            </a:r>
            <a:endParaRPr lang="en-US" sz="175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3832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3832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試合前になると「もっとやらなきゃ」と不安になる</a:t>
            </a:r>
            <a:endParaRPr lang="en-US" sz="17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8130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8130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結果が出ないと、自分まで否定したくなる</a:t>
            </a:r>
            <a:endParaRPr lang="en-US" sz="1750" dirty="0"/>
          </a:p>
        </p:txBody>
      </p:sp>
      <p:sp>
        <p:nvSpPr>
          <p:cNvPr id="17" name="Shape 15"/>
          <p:cNvSpPr/>
          <p:nvPr/>
        </p:nvSpPr>
        <p:spPr>
          <a:xfrm>
            <a:off x="457200" y="4279392"/>
            <a:ext cx="8229600" cy="521208"/>
          </a:xfrm>
          <a:prstGeom prst="roundRect">
            <a:avLst>
              <a:gd name="adj" fmla="val 140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79392"/>
            <a:ext cx="7498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1つでもあったら、今日の90分はあなたのための時間です。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90分後、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9456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「もっとメンタルを強くしなきゃ」　ではなく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97180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「今の自分には、すでにこんな力がある」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8229600" cy="640080"/>
          </a:xfrm>
          <a:prstGeom prst="roundRect">
            <a:avLst>
              <a:gd name="adj" fmla="val 857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703320"/>
            <a:ext cx="76443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「次の試合に向けて、私はこれをやればいい」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6227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がわかる状態を目指します。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今日、目指さないこと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83080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緊張しない。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441448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441448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不安にならない。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57200" y="3099816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099816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失敗を怖がらない。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758184"/>
            <a:ext cx="8229600" cy="566928"/>
          </a:xfrm>
          <a:prstGeom prst="roundRect">
            <a:avLst>
              <a:gd name="adj" fmla="val 9677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3758184"/>
            <a:ext cx="7644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いつもポジティブ。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507992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これを目指すわけではありません。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はじめに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目指すのは、こちら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緊張してもいい。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不安になってもいい。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怖くてもいい。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3154680"/>
            <a:ext cx="8229600" cy="1508760"/>
          </a:xfrm>
          <a:prstGeom prst="roundRect">
            <a:avLst>
              <a:gd name="adj" fmla="val 4848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54680"/>
            <a:ext cx="74980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その中で、「今、自分は何をすればいい？」がわかって、</a:t>
            </a:r>
            <a:endParaRPr lang="en-US" sz="20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実際に行動できる選手になる。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1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私もずっと「まだまだ」でした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競技歴11年以上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日本一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日本記録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783080"/>
            <a:ext cx="1920240" cy="658368"/>
          </a:xfrm>
          <a:prstGeom prst="roundRect">
            <a:avLst>
              <a:gd name="adj" fmla="val 5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78308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世界大会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834640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結果だけ見ると、「自信がある人」に見えるかもしれません。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でも、私の中にはずっと「もっと強くならなきゃ」がありました。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「1位じゃなきゃ意味がない」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1位になりたい。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というより、「2位ではダメ」「結果を出せない私はダメ」に近かった。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571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200400"/>
            <a:ext cx="7498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競技の結果と、自分自身の価値を、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私はかなり一緒にしていました。</a:t>
            </a:r>
            <a:endParaRPr lang="en-US" sz="2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結果が出ても「まだまだ」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記録が出る。嬉しい。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でも、すぐに始まる。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697480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「次はもっと」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264408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264408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「まだ足りない」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831336"/>
            <a:ext cx="822960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3831336"/>
            <a:ext cx="7644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「こんなんじゃダメ」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もっと強くなりたいはずなのに、そのために自分を否定していました。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2024年度のある試合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試合前から、「2位になる気がする」という感覚がありました。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だから私は、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9260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92608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「私は1位になる」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347472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「大丈夫」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4023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4023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「できる、できる、できる」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と、必死に上書きしました。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でも、不安は消えなかった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ポジティブな言葉を入れても、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心の中にある「2位になるかもしれない」は残ったまま。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そして結果は、2位でした。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「思い込むだけで、本当にメンタルは変わるの？」</a:t>
            </a:r>
            <a:endParaRPr lang="en-US" sz="2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大事なのは「消す」ことじゃなかった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「そんなこと考えちゃダメ」ではなく、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5856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2585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19456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私は今、何を不安に思っている？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81635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なぜ、そう思う？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457200" y="350215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502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43814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その中で、自分に変えられることは？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57200" y="4123944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4123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4059936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じゃあ私は、何をする？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ここから、考え方が変わりました。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変わったのは、試合だけじゃない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73736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記録を狙う日。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28600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MAX重量に挑戦する日。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2834640"/>
            <a:ext cx="76443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何でもない普通の練習の日。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457200" y="3401568"/>
            <a:ext cx="8229600" cy="694944"/>
          </a:xfrm>
          <a:prstGeom prst="roundRect">
            <a:avLst>
              <a:gd name="adj" fmla="val 1052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01568"/>
            <a:ext cx="74980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全部が、楽しくなりました。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20624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「結果が出る日」だけではなく、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今日積み重ねたものを見られるようになったからです。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しおりんのこと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同じ「もっと強くなりたい」でも違う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40280"/>
            <a:ext cx="3429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「今の自分じゃダメだから、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もっと強くならなきゃ」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754880" y="1691640"/>
            <a:ext cx="3931920" cy="2148840"/>
          </a:xfrm>
          <a:prstGeom prst="roundRect">
            <a:avLst>
              <a:gd name="adj" fmla="val 340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2880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40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「私はここまでやった。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ここまでできた。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でも、まだ強くなりたい」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以前は、自己否定からの「もっと」。　　今は、向上心からの「もっと」。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①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メンタルは「強い・弱い」で決まる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メンタルは「どう扱うか」を練習できる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生まれつきの性格だけで決まるものではありません。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不安はなくした方がいい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不安は「今、何が気になっているか」を教えてくれる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なくす前に、中身を見る。そこから、できることを考える。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思い込み ③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14400"/>
          </a:xfrm>
          <a:prstGeom prst="roundRect">
            <a:avLst>
              <a:gd name="adj" fmla="val 700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417320"/>
            <a:ext cx="457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4173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ポジティブに考えればうまくいく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1234440"/>
          </a:xfrm>
          <a:prstGeom prst="roundRect">
            <a:avLst>
              <a:gd name="adj" fmla="val 518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514600"/>
            <a:ext cx="457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514600"/>
            <a:ext cx="7040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自分の本音を無視したポジティブ思考は、準備にはならない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9776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「できる」と言う前に、「私は今、何を感じている？」を知る。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3つの思い込み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そして、もう1つ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37160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✕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371600"/>
            <a:ext cx="7040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試合は何が起こるかわからないから、メンタルは当日勝負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1945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◯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7040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試合前から、準備できることはたくさんある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ルーティン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3154680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3154680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失敗後の行動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見るもの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324612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4612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035040" y="3867912"/>
            <a:ext cx="2606040" cy="603504"/>
          </a:xfrm>
          <a:prstGeom prst="roundRect">
            <a:avLst>
              <a:gd name="adj" fmla="val 1060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035040" y="386791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やらないこと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ここから、体験します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今日使うのが「できたのかけら」です。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結果ではなく、</a:t>
            </a:r>
            <a:endParaRPr lang="en-US" sz="24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自分が積み重ねてきた小さな事実。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「できた」は、成功だけじゃない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自己ベストを出した。だけではありません。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116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116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練習に行った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231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4231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途中で重量を下げた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8346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8346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2461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2461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失敗後、次の一本に集中した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6576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6576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人に相談した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69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怖かったけど挑戦した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8056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これも全部「できた」です。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最近1か月の「できたのかけら」を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10個書いてください。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ルールは1つ。「こんなの当たり前」は禁止です。</a:t>
            </a:r>
            <a:endParaRPr lang="en-US" sz="1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見つからなかったら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この質問を使ってください。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6596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6596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続けたことは？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5000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35000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やめたことは？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挑戦したことは？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11810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11810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休むと決めたことは？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0215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50215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誰かに頼れたことは？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88620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388620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失敗したあとにやったことは？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27024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27024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以前より少しできるようになったことは？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10個の中から1つ選ぶ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「これ、私よくやったな」と思うものを1つ。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971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そして次に、こう考えます。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なぜ、それができた？</a:t>
            </a:r>
            <a:endParaRPr lang="en-US" sz="2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「できた」の中に答えがある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例えば「練習を継続できた」。　なぜ？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4884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目標が明確だった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56946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56946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仲間がいた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299008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299008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予定に入れていた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41071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41071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100点を求めなかった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83133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83133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今日は行くだけでOKにした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8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できた理由には、次にも使えるヒントがあります。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自己信頼は「できる！」と思うことではない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「私は絶対できる」と言い聞かせることではありません。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43200"/>
            <a:ext cx="749808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自分の過去を振り返った時に、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「私はこれまで、こうやって進んできた」</a:t>
            </a:r>
            <a:endParaRPr lang="en-US" sz="21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という証拠を持っていること。</a:t>
            </a:r>
            <a:endParaRPr lang="en-US" sz="2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できたのかけら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「できた」は自分への証拠になる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78308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怖かったけど挑戦できた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78308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937760" y="178308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120640" y="178308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私は、怖くても動ける。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" y="27432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失敗したけど切り替えられた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274320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937760" y="274320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120640" y="274320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私は、失敗しても次を選べる。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F5F1F0"/>
          </a:solidFill>
          <a:ln w="12700">
            <a:solidFill>
              <a:srgbClr val="E1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7033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3703320"/>
            <a:ext cx="548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37760" y="3703320"/>
            <a:ext cx="3749040" cy="658368"/>
          </a:xfrm>
          <a:prstGeom prst="roundRect">
            <a:avLst>
              <a:gd name="adj" fmla="val 972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20640" y="3703320"/>
            <a:ext cx="3429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私は、必要な時に止まる判断ができる。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でも「できた」を見つけて終わりではない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920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0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過去の「できた」を使って、次の目標へ進みます。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30175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01752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ここから、「できた」を「叶える」に変えていきます。</a:t>
            </a:r>
            <a:endParaRPr lang="en-US" sz="2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高い目標が、自信を奪うこともある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目標を高く持つことは、悪くありません。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でも、一番高い数字だけを「100点」にしていると、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届かなかった試合が全部「失敗」になってしまいます。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39319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93192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体は強くなっているのに、自信だけが減っていく。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目標を3つに分ける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78308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夢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178308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すべてが噛み合ったら届きたい理想。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94560" y="274320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432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今の自分が本気で狙う数字。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370332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評価する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370332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今の実力から考えて取りたい合格ライン。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120点は「夢」。100点は「狙う」。80点は「評価する」。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例えば、トータル700kgが目標なら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120点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373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710〜720kg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457200" y="2578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257860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100点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377440" y="2578608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57200" y="3419856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419856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419856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687.5kg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457200" y="4315968"/>
            <a:ext cx="8229600" cy="484632"/>
          </a:xfrm>
          <a:prstGeom prst="roundRect">
            <a:avLst>
              <a:gd name="adj" fmla="val 1509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315968"/>
            <a:ext cx="74980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狙うのは100点。でも届かなかった日も「全部ダメだった」にはしない。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目標を3つに分ける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80点は、妥協ではない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8308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「このくらいでいいや」ではありません。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788920"/>
            <a:ext cx="7498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2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自分の成長を見失わないためのラインです。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100点を狙いながら、できたことも正しく評価する。</a:t>
            </a:r>
            <a:endParaRPr lang="en-US" sz="1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2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次の試合で狙いたい数字を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その数字は、120点？　100点？　80点？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4114800"/>
            <a:ext cx="8229600" cy="685800"/>
          </a:xfrm>
          <a:prstGeom prst="roundRect">
            <a:avLst>
              <a:gd name="adj" fmla="val 9333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411480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そのうえで、3つの数字を置いてみてください。</a:t>
            </a:r>
            <a:endParaRPr lang="en-US" sz="1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結果は、直接コントロールできない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順位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24612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ライバルの記録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035040" y="182880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82880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判定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会場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24612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24612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試合進行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035040" y="2606040"/>
            <a:ext cx="2606040" cy="658368"/>
          </a:xfrm>
          <a:prstGeom prst="roundRect">
            <a:avLst>
              <a:gd name="adj" fmla="val 9722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35040" y="260604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自分以外の選手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862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ここを動かそうとすると、不安が大きくなります。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コントロールできるのは「自分の行動」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今日の練習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663440" y="1783080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78308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睡眠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休養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663440" y="2532888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532888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試技前のルーティン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自分にかける言葉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663440" y="3282696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63440" y="3282696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失敗した後の行動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5720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何を見るか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663440" y="4032504"/>
            <a:ext cx="4023360" cy="640080"/>
          </a:xfrm>
          <a:prstGeom prst="roundRect">
            <a:avLst>
              <a:gd name="adj" fmla="val 1000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663440" y="4032504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何を見ないか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「この目標を達成する選手なら？」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何をする？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4754880" y="2103120"/>
            <a:ext cx="3931920" cy="1371600"/>
          </a:xfrm>
          <a:prstGeom prst="roundRect">
            <a:avLst>
              <a:gd name="adj" fmla="val 5333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54880" y="210312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何をしない？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「何をする？」だけではなく、「何をしない？」まで考えます。</a:t>
            </a:r>
            <a:endParaRPr lang="en-US" sz="1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DOを決める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次の試合に向けて、自分がやることを3つ決める。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85292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85292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78892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予定通りのトレーニングをする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457200" y="3493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493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429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試技前に決めたルーティンを行う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457200" y="413308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133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06908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毎回「できた」を1つ記録する</a:t>
            </a:r>
            <a:endParaRPr lang="en-US" sz="1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自分で選べること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DON'Tも決める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不安になると、人は行動を増やしたくなります。だから先に、「やらないこと」も決める。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5146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926080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不安だから予定外の高重量を触らない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3547872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9808" y="3547872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ライバルの数字を何度も見ない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4169664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4169664"/>
            <a:ext cx="76443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失敗した一本を何度も頭の中で再生しない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WORK 3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544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次の試合までの</a:t>
            </a:r>
            <a:endParaRPr lang="en-US" sz="3400" dirty="0"/>
          </a:p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DO と MY DON'T を書いてください。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0632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　やること 3つ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DON'T　やらないこと 3つ</a:t>
            </a:r>
            <a:endParaRPr lang="en-US" sz="1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強い選手＝失敗しない選手？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違います。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パワーリフティングは SQ・BP・DL 各3本。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9回すべてが思い通りになるとは限りません。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3520440"/>
            <a:ext cx="8229600" cy="1188720"/>
          </a:xfrm>
          <a:prstGeom prst="roundRect">
            <a:avLst>
              <a:gd name="adj" fmla="val 6154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3520440"/>
            <a:ext cx="7498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大事なのは、失敗をゼロにすることではなく、</a:t>
            </a:r>
            <a:endParaRPr lang="en-US" sz="2100" dirty="0"/>
          </a:p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失敗した後を準備しておくこと。</a:t>
            </a:r>
            <a:endParaRPr lang="en-US" sz="2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930"/>
              </a:lnSpc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一本失敗したら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考えるのは3つだけ。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350008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500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6000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457200" y="3063240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063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2999232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次に変えることは？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" y="3776472"/>
            <a:ext cx="347472" cy="347472"/>
          </a:xfrm>
          <a:prstGeom prst="ellipse">
            <a:avLst/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776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3712464"/>
            <a:ext cx="7498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変えないことは？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434840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そして、次の一本へ。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失敗したあとの準備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「今日ダメかも」は事実ではない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これは事実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「失敗した」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754880" y="1737360"/>
            <a:ext cx="3931920" cy="1737360"/>
          </a:xfrm>
          <a:prstGeom prst="roundRect">
            <a:avLst>
              <a:gd name="adj" fmla="val 4211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29200" y="1874520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これは解釈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2286000"/>
            <a:ext cx="3429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「今日はダメだ」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「私は弱い」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「また失敗する」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事実と解釈を分けるだけでも、次の行動は変わります。</a:t>
            </a:r>
            <a:endParaRPr lang="en-US" sz="2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「もっと頑張らなきゃ」から変わった選手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822960"/>
          </a:xfrm>
          <a:prstGeom prst="roundRect">
            <a:avLst>
              <a:gd name="adj" fmla="val 7778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以前は「できていないから、もっと頑張らないと」と考えていました。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88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でも、自分の「できた」を意識して積み重ねるようになり、</a:t>
            </a:r>
            <a:endParaRPr lang="en-US" sz="18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こう話してくれました。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79476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「チャレンジすることが楽しく、失敗が怖くなくなった」</a:t>
            </a:r>
            <a:endParaRPr lang="en-US" sz="21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目標が「願い」から「行動」に変わった選手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EFEBEA"/>
          </a:solidFill>
          <a:ln w="12700">
            <a:solidFill>
              <a:srgbClr val="EFEB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691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C838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以前は「スクワット140kgを挙げたい！」という目標でした。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974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そこから「そのために何をやる？」まで考えることで、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技術や日々の行動を具体的に見直せるようになりました。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「何をすればいいかが明確になる」という変化が生まれています。</a:t>
            </a:r>
            <a:endParaRPr lang="en-US" sz="1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受講された方の変化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85"/>
              </a:lnSpc>
              <a:buNone/>
            </a:pPr>
            <a:r>
              <a:rPr lang="en-US" sz="33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700kgを狙う選手も同じ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目標は高くていい。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でも、700kgだけが成功で、699kg以下は全部失敗、ではありません。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120・100・80を持つことで、高い目標を狙いながら、今の成長も見失わない。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840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高い目標と自己信頼は、両立できます。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70916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受講された方の体験であり、同じ結果を保証するものではありません。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今日やったことが、メンタルトレーニングです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00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気合いを入れることではありません。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5740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自分の状態を知る。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47802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60604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60604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できていることを知る。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02666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31546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目標を整理する。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57530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0332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自分にできることを選ぶ。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12394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251960"/>
            <a:ext cx="8229600" cy="457200"/>
          </a:xfrm>
          <a:prstGeom prst="roundRect">
            <a:avLst>
              <a:gd name="adj" fmla="val 1200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25196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行動する。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メンタルは「当日」だけのものではない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56032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6032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普段の練習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66344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休むか迷う時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766560" y="192024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766560" y="192024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停滞した時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試合前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56032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56032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66344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766560" y="2743200"/>
            <a:ext cx="1920240" cy="694944"/>
          </a:xfrm>
          <a:prstGeom prst="roundRect">
            <a:avLst>
              <a:gd name="adj" fmla="val 92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2743200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384048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すべてが、メンタルトレーニングです。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私が目指しているのは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55448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5448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79AA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「自信満々な選手」ではありません。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プレッシャーがあっても、</a:t>
            </a:r>
            <a:endParaRPr lang="en-US" sz="2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自分がやるべきことを理解し、実践できる選手。</a:t>
            </a:r>
            <a:endParaRPr lang="en-US" sz="2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メンタルトレーニングとは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70"/>
              </a:lnSpc>
              <a:buNone/>
            </a:pPr>
            <a:r>
              <a:rPr lang="en-US" sz="26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最終的には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何が起きても、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011680"/>
            <a:ext cx="7498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「私は次に何をすればいいかわかる」</a:t>
            </a:r>
            <a:endParaRPr lang="en-US" sz="2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004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と言える状態へ。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7947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成功しても。失敗しても。</a:t>
            </a:r>
            <a:endParaRPr lang="en-US" sz="19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自分への信頼を失わず、次の行動を選べる。</a:t>
            </a:r>
            <a:endParaRPr lang="en-US" sz="1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5"/>
              </a:lnSpc>
              <a:buNone/>
            </a:pPr>
            <a:r>
              <a:rPr lang="en-US" sz="29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今日、最初の自分と比べてどうですか？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1371600"/>
          </a:xfrm>
          <a:prstGeom prst="roundRect">
            <a:avLst>
              <a:gd name="adj" fmla="val 5333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「できていない」だけではなく、</a:t>
            </a:r>
            <a:endParaRPr lang="en-US" sz="21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1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「これもできていた」が見つかりましたか？</a:t>
            </a:r>
            <a:endParaRPr lang="en-US" sz="21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今日書いたものは、ただの振り返りではありません。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" y="3977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あなたが次に進むための、証拠です。</a:t>
            </a:r>
            <a:endParaRPr lang="en-US" sz="2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F0B9C3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今日の「できたのかけら」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最後に1つ書いてください。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今日90分参加した。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663440" y="205740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205740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自分のことを考えた。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目標を書いた。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63440" y="2834640"/>
            <a:ext cx="4023360" cy="658368"/>
          </a:xfrm>
          <a:prstGeom prst="roundRect">
            <a:avLst>
              <a:gd name="adj" fmla="val 9722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2834640"/>
            <a:ext cx="4023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やることを決めた。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57200" y="38404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84048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それも全部、今日のあなたの「できた」です。</a:t>
            </a:r>
            <a:endParaRPr lang="en-US" sz="2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今日の続きは、一人でもできます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373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今日やったことは、今日だけで終わりません。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持ち帰って続けられるように、2つのシートをお渡しします。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457200" y="2880360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7A1524"/>
          </a:solidFill>
          <a:ln w="12700">
            <a:solidFill>
              <a:srgbClr val="7A152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288036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21608"/>
            <a:ext cx="8229600" cy="731520"/>
          </a:xfrm>
          <a:prstGeom prst="roundRect">
            <a:avLst>
              <a:gd name="adj" fmla="val 8750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21608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286000" y="3721608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1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できたのかけら 見つけるワークシート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「できた」を見つけるための、振り返りワークシートです。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最近できたこと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続けられたこと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挑戦したこと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休めたこと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失敗した後にできたこと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54787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を振り返りながら、「自分はどうやって進んできたか」を見つけます。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89534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ワークショップのあとも、練習や試合の振り返りに繰り返し使えます。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427939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279392"/>
            <a:ext cx="7498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6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「できた」は、探せば増える。</a:t>
            </a:r>
            <a:endParaRPr lang="en-US" sz="1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今日の続き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0223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特典 02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15"/>
              </a:lnSpc>
              <a:buNone/>
            </a:pPr>
            <a:r>
              <a:rPr lang="en-US" sz="27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「できた」を結果につなげるチェックシート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「できた」で終わらず、次の行動につなげるためのチェックシートです。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今回、何ができた？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24612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なぜできた？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035040" y="2194560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194560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自分のどんな力を使った？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次の目標にも使える？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24612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次に何をする？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035040" y="2852928"/>
            <a:ext cx="260604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852928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何をやらない？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611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「私、ちゃんと進んでた」を「じゃあ次、こうしよう」に変えるための1枚です。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457200" y="4160520"/>
            <a:ext cx="8229600" cy="621792"/>
          </a:xfrm>
          <a:prstGeom prst="roundRect">
            <a:avLst>
              <a:gd name="adj" fmla="val 1176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4160520"/>
            <a:ext cx="7498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振り返りを、次の一本へ。</a:t>
            </a:r>
            <a:endParaRPr lang="en-US" sz="2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ここから先は、一人ひとり違います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同じ「試合で怖くなる」でも、原因は同じではありません。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失敗経験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24612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24612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目標設定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035040" y="27889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7889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他人との比較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準備不足への不安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46120" y="3474720"/>
            <a:ext cx="2606040" cy="576072"/>
          </a:xfrm>
          <a:prstGeom prst="roundRect">
            <a:avLst>
              <a:gd name="adj" fmla="val 11111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46120" y="3474720"/>
            <a:ext cx="26060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試技前の思考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315968"/>
            <a:ext cx="7498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だから、必要なトレーニングも変わります。</a:t>
            </a:r>
            <a:endParaRPr lang="en-US" sz="1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次の試合で絶対に取りたい一本がある方へ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60分</a:t>
            </a:r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無料個別相談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7627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あなたの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次の目標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37560" y="2578608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37560" y="257860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今困っていること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崩れやすい場面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337560" y="3182112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337560" y="3182112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今必要なメンタルスキル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5616"/>
            <a:ext cx="2743200" cy="512064"/>
          </a:xfrm>
          <a:prstGeom prst="roundRect">
            <a:avLst>
              <a:gd name="adj" fmla="val 12500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8561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次にやること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34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を、一緒に整理します。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355080" y="1188720"/>
            <a:ext cx="2331720" cy="269748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9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1691640" cy="169164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355080" y="31546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スマホのカメラで</a:t>
            </a:r>
            <a:endParaRPr lang="en-US" sz="12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540E1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読み取ってください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355080" y="40233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mosh.jp/services/404875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355080" y="437083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584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こんな方に来てほしいです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8308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絶対に取りたい記録がある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258568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258568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勝ちたい試合がある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734056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734056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練習の力を試合でも出したい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209544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209544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一本の失敗を引きずりたくない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850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3685032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試合をもっと楽しみたい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4160520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160520"/>
            <a:ext cx="79552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メンタルもトレーニングしたい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ここから先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350"/>
              </a:lnSpc>
              <a:buNone/>
            </a:pPr>
            <a:r>
              <a:rPr lang="en-US" sz="30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講座の話も、今日しておきます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「パワーリフターのための実践メンタルトレーニング」という</a:t>
            </a:r>
            <a:endParaRPr lang="en-US" sz="18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3か月の講座をやっています。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834640"/>
            <a:ext cx="8229600" cy="777240"/>
          </a:xfrm>
          <a:prstGeom prst="roundRect">
            <a:avLst>
              <a:gd name="adj" fmla="val 8235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3464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あとで探さなくていいように、先にお見せします。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794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今日申し込む必要はまったくありません。</a:t>
            </a:r>
            <a:endParaRPr lang="en-US" sz="17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7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「そういうものがあるんだな」で大丈夫です。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57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4980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パワーリフターのための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9728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実践メンタルトレーニング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2880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ここぞの一本を、取り切る。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39572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期間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103120" y="239572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94436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94436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回数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94436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個別セッション 最大10回（7〜10回程度）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49300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103120" y="349300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60分（講義・ワーク30分＋個別コーチング30分）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4041648"/>
            <a:ext cx="7863840" cy="475488"/>
          </a:xfrm>
          <a:prstGeom prst="roundRect">
            <a:avLst>
              <a:gd name="adj" fmla="val 11538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40416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形式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041648"/>
            <a:ext cx="6035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完全1対1／Zoom　※試合日程に合わせて調整</a:t>
            </a:r>
            <a:endParaRPr lang="en-US" sz="15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58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3か月の流れ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27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103120" y="1627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勝ちたい試合・取りたい一本を明確にする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457200" y="20848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20848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0848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自分が崩れるパターンを知る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457200" y="25420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5420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03120" y="25420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自分に合ったメンタルスキルをつくる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457200" y="29992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29992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29992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自分専用の試合ルーティンをつくる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457200" y="34564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34564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34564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本番を想定して使ってみる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863840" cy="402336"/>
          </a:xfrm>
          <a:prstGeom prst="roundRect">
            <a:avLst>
              <a:gd name="adj" fmla="val 13636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77240" y="391363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6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103120" y="3913632"/>
            <a:ext cx="6035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MY BEST LIFT PLAN 完成</a:t>
            </a:r>
            <a:endParaRPr lang="en-US" sz="15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4443984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一斉スタートではありません。あなたの大会日と現在地に合わせて進めます。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04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この3か月で完成するもの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MY BEST LIFT PLAN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93852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「私はこうすれば試合で力を出せる」をまとめた、自分専用の勝負の設計図。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試合当日の過ごし方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80560" y="2487168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2487168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緊張したときに戻る手順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失敗した直後のリセット方法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480560" y="3017520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3017520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他人の記録や順位との付き合い方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1・2・3本目それぞれの考え方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80560" y="3547872"/>
            <a:ext cx="3840480" cy="438912"/>
          </a:xfrm>
          <a:prstGeom prst="roundRect">
            <a:avLst>
              <a:gd name="adj" fmla="val 10417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63440" y="354787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ここぞの一本で使う「自分のスイッチ」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2452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0B9C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正解を押しつけるのではなく、あなた自身の勝負の型を一緒につくります。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315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40"/>
              </a:lnSpc>
              <a:buNone/>
            </a:pPr>
            <a:r>
              <a:rPr lang="en-US" sz="32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一人ひとり、中身が違います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727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たくさんの方へ一斉に教える講座ではありません。次の5つを見て、組み立てます。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次の大会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15468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15468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取りたい記録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852160" y="2103120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210312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過去の試合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考え方の特徴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154680" y="2761488"/>
            <a:ext cx="2514600" cy="548640"/>
          </a:xfrm>
          <a:prstGeom prst="roundRect">
            <a:avLst>
              <a:gd name="adj" fmla="val 11667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154680" y="276148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必要なメンタルスキル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2960" y="3657600"/>
            <a:ext cx="7498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4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だから、同じ内容を全員には渡しません。</a:t>
            </a:r>
            <a:endParaRPr lang="en-US" sz="21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講座のご案内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90"/>
              </a:lnSpc>
              <a:buNone/>
            </a:pPr>
            <a:r>
              <a:rPr lang="en-US" sz="2200" b="1" dirty="0">
                <a:solidFill>
                  <a:srgbClr val="6B6360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受講料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887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4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98,000</a:t>
            </a:r>
            <a:pPr indent="0" marL="0">
              <a:buNone/>
            </a:pPr>
            <a:r>
              <a:rPr lang="en-US" sz="2000" b="1" dirty="0">
                <a:solidFill>
                  <a:srgbClr val="7A1524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　円（税込）</a:t>
            </a:r>
            <a:endParaRPr lang="en-US" sz="6400" dirty="0"/>
          </a:p>
        </p:txBody>
      </p:sp>
      <p:sp>
        <p:nvSpPr>
          <p:cNvPr id="6" name="Shape 4"/>
          <p:cNvSpPr/>
          <p:nvPr/>
        </p:nvSpPr>
        <p:spPr>
          <a:xfrm>
            <a:off x="45720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3か月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011680" y="2395728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011680" y="2395728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最大10回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1回60分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011680" y="3017520"/>
            <a:ext cx="1417320" cy="512064"/>
          </a:xfrm>
          <a:prstGeom prst="roundRect">
            <a:avLst>
              <a:gd name="adj" fmla="val 50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011680" y="30175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完全1対1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5394960" cy="749808"/>
          </a:xfrm>
          <a:prstGeom prst="roundRect">
            <a:avLst>
              <a:gd name="adj" fmla="val 8537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4846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お申し込みの前に、まず無料個別相談へ。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172200" y="1051560"/>
            <a:ext cx="2514600" cy="2834640"/>
          </a:xfrm>
          <a:prstGeom prst="roundRect">
            <a:avLst>
              <a:gd name="adj" fmla="val 2909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pic>
        <p:nvPicPr>
          <p:cNvPr id="17" name="Image 0" descr="image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325880"/>
            <a:ext cx="1691640" cy="16916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172200" y="310896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60分・無料個別相談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340156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自分に必要かどうかを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3B363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確かめる時間です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172200" y="40416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Zoomのチャットにも貼ります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3774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おわりに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636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7772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95"/>
              </a:lnSpc>
              <a:buNone/>
            </a:pPr>
            <a:r>
              <a:rPr lang="en-US" sz="3100" b="1" dirty="0">
                <a:solidFill>
                  <a:srgbClr val="141416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今日のゴールは、もう達成しています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82880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「私、ちゃんと進んでた」　に気づく。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8229600" cy="685800"/>
          </a:xfrm>
          <a:prstGeom prst="roundRect">
            <a:avLst>
              <a:gd name="adj" fmla="val 8000"/>
            </a:avLst>
          </a:prstGeom>
          <a:solidFill>
            <a:srgbClr val="FAF3F4"/>
          </a:solidFill>
          <a:ln w="12700">
            <a:solidFill>
              <a:srgbClr val="FAF3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2606040"/>
            <a:ext cx="7644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152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「じゃあ次、私は何をする？」　を自分で決める。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57200" y="370332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540E19"/>
          </a:solidFill>
          <a:ln w="12700">
            <a:solidFill>
              <a:srgbClr val="540E1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0332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8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今日決めた一歩を、ぜひ持ち帰ってください。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540E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63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58368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6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小さな「できた」は、次の一本につながる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できたを見つける。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837944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938528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自分を知る。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31343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2414016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目標を決める。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788920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889504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88950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行動を選ぶ。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6440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687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↓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364992"/>
            <a:ext cx="5120640" cy="402336"/>
          </a:xfrm>
          <a:prstGeom prst="roundRect">
            <a:avLst>
              <a:gd name="adj" fmla="val 11364"/>
            </a:avLst>
          </a:prstGeom>
          <a:solidFill>
            <a:srgbClr val="A02236"/>
          </a:solidFill>
          <a:ln w="12700">
            <a:solidFill>
              <a:srgbClr val="A0223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3364992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また、できたが増える。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06440" y="1463040"/>
            <a:ext cx="2880360" cy="2231136"/>
          </a:xfrm>
          <a:prstGeom prst="roundRect">
            <a:avLst>
              <a:gd name="adj" fmla="val 3279"/>
            </a:avLst>
          </a:prstGeom>
          <a:solidFill>
            <a:srgbClr val="3A0B12"/>
          </a:solidFill>
          <a:ln w="12700">
            <a:solidFill>
              <a:srgbClr val="3A0B1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080760" y="1463040"/>
            <a:ext cx="2331720" cy="2231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その積み重ねが、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「私なら次も進める」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という自己信頼に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F2E7E9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なります。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39776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776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40E19"/>
                </a:solidFill>
                <a:latin typeface="Yu Mincho" pitchFamily="34" charset="0"/>
                <a:ea typeface="Yu Mincho" pitchFamily="34" charset="-122"/>
                <a:cs typeface="Yu Mincho" pitchFamily="34" charset="-120"/>
              </a:rPr>
              <a:t>今日はありがとうございました。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できたのかけらワークショップ｜90分セミナー</dc:title>
  <dc:subject>PptxGenJS Presentation</dc:subject>
  <dc:creator>しおりん</dc:creator>
  <cp:lastModifiedBy>しおりん</cp:lastModifiedBy>
  <cp:revision>1</cp:revision>
  <dcterms:created xsi:type="dcterms:W3CDTF">2026-09-25T04:05:38Z</dcterms:created>
  <dcterms:modified xsi:type="dcterms:W3CDTF">2026-09-25T04:05:38Z</dcterms:modified>
</cp:coreProperties>
</file>